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E2444"/>
          </a:solidFill>
          <a:ln w="12700">
            <a:solidFill>
              <a:srgbClr val="0E2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1920240" cy="34747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AID323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Signal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&amp; Filtering Large Audio Streams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MPI + OpenMP Hybrid Parallelism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611880"/>
            <a:ext cx="4114800" cy="36576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840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 ·  Case Study Project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040880" y="822960"/>
            <a:ext cx="1371600" cy="1371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7512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CC"/>
                </a:solidFill>
              </a:rPr>
              <a:t>MPI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675120" y="2999232"/>
            <a:ext cx="2011680" cy="3657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OpenMP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0" y="4754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 /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2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77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97764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Building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parallel DSP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combines: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distributed memory parallelism across compute nodes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shared memory multi-threading within each node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processes large WAV audio files through a multi-stage DSP pipeline including STFT, FIR/IIR filtering, spectral feature extraction, and reconstruction.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2057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68680"/>
            <a:ext cx="205740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430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635M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in 1-hr stereo audio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8272" y="868680"/>
            <a:ext cx="2057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48272" y="868680"/>
            <a:ext cx="20574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14300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39712" y="187452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ops (FLOP)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880360"/>
            <a:ext cx="2057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880360"/>
            <a:ext cx="2057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1546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~12×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63440" y="3886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speedup (16 procs)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48272" y="2880360"/>
            <a:ext cx="2057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2880360"/>
            <a:ext cx="2057400" cy="54864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315468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A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39712" y="388620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 fraction (Amdahl)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3 / 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audio signal is a 1-D time-series sampled at 44,100–48,000 Hz. A 1-hour stereo file contains ~635 million samples requiring billions of FLOPs for sophisticated DSP — too slow for any single core.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08760"/>
          <a:ext cx="8503920" cy="3383280"/>
        </p:xfrm>
        <a:graphic>
          <a:graphicData uri="http://schemas.openxmlformats.org/drawingml/2006/table">
            <a:tbl>
              <a:tblPr/>
              <a:tblGrid>
                <a:gridCol w="2926080"/>
                <a:gridCol w="5577840"/>
              </a:tblGrid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Windowing &amp; Framing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Splitting signal into overlapping short frames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/ STFT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time-domain frames to frequency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 (FIR/IIR)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Convolution-based or recursive filters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MFCC, chroma, spectral centroid &amp; bandwidth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Wiener filtering, spectral 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Reconstruction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Overlap-Add (OLA) / Weighted OLA (WOLA)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4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834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834640" cy="64008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Broadcasting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noise cancellation and dynamic range compression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834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68680"/>
            <a:ext cx="283464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Music Tech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4904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correction, equalization, reverb &amp; echo effects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868680"/>
            <a:ext cx="2834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868680"/>
            <a:ext cx="28346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Speech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0216" y="14904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pipelines for Automatic Speech Recognition (ASR)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834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28346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5478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echo cancellation, bandwidth-limited codec filtering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18688" y="2926080"/>
            <a:ext cx="2834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A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926080"/>
            <a:ext cx="2834640" cy="64008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A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35478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/ phonocardiogram denoising, fetal heartbeat monitoring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63056" y="2926080"/>
            <a:ext cx="28346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926080"/>
            <a:ext cx="283464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30632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Seismology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0216" y="3547872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seismic audio streams for earthquake early warning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634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radio channels × 24 hours sequentially = days on a single CPU core. Distributed parallel computation is essential.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444"/>
          </a:solidFill>
          <a:ln w="12700">
            <a:solidFill>
              <a:srgbClr val="0E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Challenges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5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51960" cy="1920240"/>
          </a:xfrm>
          <a:prstGeom prst="rect">
            <a:avLst/>
          </a:prstGeom>
          <a:solidFill>
            <a:srgbClr val="0E2444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42519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33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Intensity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5819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complexity: O(N log N). Applied to M frames → O(M × N log N) total. A 1-hour file requires ~3.5 billion floating-point operations.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251960" cy="1920240"/>
          </a:xfrm>
          <a:prstGeom prst="rect">
            <a:avLst/>
          </a:prstGeom>
          <a:solidFill>
            <a:srgbClr val="0E2444"/>
          </a:solidFill>
          <a:ln w="19050">
            <a:solidFill>
              <a:srgbClr val="00C4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868680"/>
            <a:ext cx="425196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33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Independence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15819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processed independently. Stereo channels are fully independent. Amdahl's parallelizable fraction P ≥ 0.95.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4320" y="2926080"/>
            <a:ext cx="4251960" cy="1920240"/>
          </a:xfrm>
          <a:prstGeom prst="rect">
            <a:avLst/>
          </a:prstGeom>
          <a:solidFill>
            <a:srgbClr val="0E2444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2926080"/>
            <a:ext cx="4251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906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Constraints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11480" y="36393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× 48 kHz × 32-bit float stereo = 1.32 GB RAM. 50 such files = ~66 GB — beyond any single node's practical limit.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4251960" cy="1920240"/>
          </a:xfrm>
          <a:prstGeom prst="rect">
            <a:avLst/>
          </a:prstGeom>
          <a:solidFill>
            <a:srgbClr val="0E2444"/>
          </a:solidFill>
          <a:ln w="19050">
            <a:solidFill>
              <a:srgbClr val="1AAB7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09160" y="2926080"/>
            <a:ext cx="4251960" cy="54864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089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0906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A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 Throughput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846320" y="3639312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large files is a significant bottleneck. Parallel I/O strategies (MPI-IO, double-buffering) are required to avoid disk-bound execution.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Law: With f = 0.95 and P = 16 processes → S_max ≈ 11.9×  |  With P = 32 → S_max ≈ 15.2×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Hybrid MPI + OpenMP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6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0" y="822960"/>
            <a:ext cx="3657600" cy="9601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8229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NODE  (MPI Rank 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207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Audio  →  Segment  →  MPI Scatter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1801368"/>
            <a:ext cx="64008" cy="4114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801368"/>
            <a:ext cx="64008" cy="4114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1801368"/>
            <a:ext cx="64008" cy="41148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12848"/>
            <a:ext cx="228600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12848"/>
            <a:ext cx="2286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677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(MPI Rank 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2011680" cy="1234440"/>
          </a:xfrm>
          <a:prstGeom prst="rect">
            <a:avLst/>
          </a:prstGeom>
          <a:solidFill>
            <a:srgbClr val="0E24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4088" y="3200400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64208" y="3200400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" y="3584448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64208" y="3584448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4389120"/>
            <a:ext cx="64008" cy="3657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212848"/>
            <a:ext cx="228600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2212848"/>
            <a:ext cx="2286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2677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(MPI Rank 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2834640"/>
            <a:ext cx="2011680" cy="1234440"/>
          </a:xfrm>
          <a:prstGeom prst="rect">
            <a:avLst/>
          </a:prstGeom>
          <a:solidFill>
            <a:srgbClr val="0E24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30168" y="3200400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90288" y="3200400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30168" y="3584448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90288" y="3584448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90288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4389120"/>
            <a:ext cx="64008" cy="3657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2212848"/>
            <a:ext cx="2286000" cy="2148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0" y="2212848"/>
            <a:ext cx="2286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22677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 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(MPI Rank 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37960" y="2834640"/>
            <a:ext cx="2011680" cy="1234440"/>
          </a:xfrm>
          <a:prstGeom prst="rect">
            <a:avLst/>
          </a:prstGeom>
          <a:solidFill>
            <a:srgbClr val="0E244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Threads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601968" y="3200400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62088" y="3200400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62088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01968" y="3584448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62088" y="3584448"/>
            <a:ext cx="822960" cy="3200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62088" y="35844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78040" y="4389120"/>
            <a:ext cx="64008" cy="36576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4773168"/>
            <a:ext cx="3657600" cy="2286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4773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Gather  →  Reconstruct  →  Write Output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4CC"/>
                </a:solidFill>
              </a:rPr>
              <a:t>MPI_Scatter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" y="4434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73B5"/>
                </a:solidFill>
              </a:rPr>
              <a:t>MPI_Gather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Representation &amp; Input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7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7764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File Format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pPr indent="0" marL="0">
              <a:buNone/>
            </a:pPr>
            <a:r>
              <a:rPr lang="en-US" sz="12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(PCM 16-bit or 32-bit float)
</a:t>
            </a:r>
            <a:pPr indent="0" marL="0">
              <a:buNone/>
            </a:pPr>
            <a:r>
              <a:rPr lang="en-US" sz="12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Rate: </a:t>
            </a:r>
            <a:pPr indent="0" marL="0">
              <a:buNone/>
            </a:pPr>
            <a:r>
              <a:rPr lang="en-US" sz="12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 kHz / 48 kHz
</a:t>
            </a:r>
            <a:pPr indent="0" marL="0">
              <a:buNone/>
            </a:pPr>
            <a:r>
              <a:rPr lang="en-US" sz="12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</a:t>
            </a:r>
            <a:pPr indent="0" marL="0">
              <a:buNone/>
            </a:pPr>
            <a:r>
              <a:rPr lang="en-US" sz="12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 or Stereo
</a:t>
            </a:r>
            <a:pPr indent="0" marL="0">
              <a:buNone/>
            </a:pPr>
            <a:r>
              <a:rPr lang="en-US" sz="125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</a:t>
            </a:r>
            <a:pPr indent="0" marL="0">
              <a:buNone/>
            </a:pPr>
            <a:r>
              <a:rPr lang="en-US" sz="12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float (avoids quantization artifacts)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822960"/>
            <a:ext cx="4434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822960"/>
            <a:ext cx="443484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Two-Level Data Subdivision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25880"/>
          <a:ext cx="4251960" cy="1234440"/>
        </p:xfrm>
        <a:graphic>
          <a:graphicData uri="http://schemas.openxmlformats.org/drawingml/2006/table">
            <a:tbl>
              <a:tblPr/>
              <a:tblGrid>
                <a:gridCol w="1097280"/>
                <a:gridCol w="1051560"/>
                <a:gridCol w="1234440"/>
                <a:gridCol w="1783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– MPI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10–60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MPI worker 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– OpenMP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512–4096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OpenMP thread (STFT)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2788920"/>
            <a:ext cx="8595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788920"/>
            <a:ext cx="85953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852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Overlap-Save Strategy (Guard Regions)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65760" y="3310128"/>
            <a:ext cx="8229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3101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guard_L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188720" y="3310128"/>
            <a:ext cx="3474720" cy="45720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33101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Chunk i  —  data  ———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3310128"/>
            <a:ext cx="8229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3101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guard_R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0" y="3904488"/>
            <a:ext cx="8229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0" y="3904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guard_L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023360" y="3904488"/>
            <a:ext cx="3474720" cy="457200"/>
          </a:xfrm>
          <a:prstGeom prst="rect">
            <a:avLst/>
          </a:prstGeom>
          <a:solidFill>
            <a:srgbClr val="1A90D5"/>
          </a:solidFill>
          <a:ln w="12700">
            <a:solidFill>
              <a:srgbClr val="1A90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23360" y="39044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Chunk i+1  —  data  ———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98080" y="3904488"/>
            <a:ext cx="8229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3904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guard_R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44988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 overlap: 50% (2048-sample frames, 1024-sample hop)  ·  Guard region size = filter_order − 1 samples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444"/>
          </a:solidFill>
          <a:ln w="12700">
            <a:solidFill>
              <a:srgbClr val="0E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7-Stage Processing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8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1A73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457200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841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 &amp; Distribution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77640" y="841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reads audio → divides into P-1 chunks → MPI_Scatter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335024"/>
            <a:ext cx="54864" cy="82296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17320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00C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417320"/>
            <a:ext cx="457200" cy="53035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41732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45389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14538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removal, pre-emphasis filter (α=0.97), Hann/Hamming windowing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1947672"/>
            <a:ext cx="54864" cy="82296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029968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029968"/>
            <a:ext cx="457200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2996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0665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STFT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977640" y="2066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2048-sample frames, hop=1024, FFT per frame  →  spectrogram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560320"/>
            <a:ext cx="54864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42616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642616"/>
            <a:ext cx="45720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6426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26791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Spectral Filtering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77640" y="26791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mask, noise gate, Wiener filter, EQ curve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172968"/>
            <a:ext cx="54864" cy="822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255264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1AAB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55264"/>
            <a:ext cx="457200" cy="530352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25526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A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97764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(13 coeff), chroma, spectral centroid, ZCR, RMS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3785616"/>
            <a:ext cx="54864" cy="82296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867912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E85D0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867912"/>
            <a:ext cx="457200" cy="53035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6791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39044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 STFT + OLA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977640" y="3904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 per frame → overlap-add accumulation → WOLA normalize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398264"/>
            <a:ext cx="54864" cy="8229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480560"/>
            <a:ext cx="8595360" cy="530352"/>
          </a:xfrm>
          <a:prstGeom prst="rect">
            <a:avLst/>
          </a:prstGeom>
          <a:solidFill>
            <a:srgbClr val="0E2444"/>
          </a:solidFill>
          <a:ln w="15240">
            <a:solidFill>
              <a:srgbClr val="1A73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480560"/>
            <a:ext cx="457200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48056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22960" y="45171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&amp; Output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977640" y="45171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MPI_Gather → concatenate → normalize → write WAV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Implementation — Baseline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9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77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7764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 Summary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384048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097280"/>
              </a:tblGrid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Pre-emphasis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N/2)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N/2)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O(N/2)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N/2 × 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ISTFT + 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 ×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L=signal len · M=frames · N=FFT size · F=features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34840" y="822960"/>
            <a:ext cx="4434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34840" y="822960"/>
            <a:ext cx="443484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Design Goals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3716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3533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reference — bit-identical output (within float tolerance) to the parallel version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2996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8348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-O3 -march=native for best single-core performance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68833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6700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structure: io/, dsp/, features/, utils/ — directly mirrors the parallel version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34670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83480" y="332841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timing via clock_gettime() per stage for fair benchmarking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274320" y="4434840"/>
            <a:ext cx="8595360" cy="5303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11480" y="44348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1-hour file: L ≈ 158M samples · N = 2048 · M ≈ 155,000 frames  →  ~3.5 billion FLOPs confirm the need for parallelism.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MPI Layer — Distributed Memory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10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77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7764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MPI Message Tags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3840480" cy="2194560"/>
        </p:xfrm>
        <a:graphic>
          <a:graphicData uri="http://schemas.openxmlformats.org/drawingml/2006/table">
            <a:tbl>
              <a:tblPr/>
              <a:tblGrid>
                <a:gridCol w="1554480"/>
                <a:gridCol w="6400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TAG_SIZE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byte size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TAG_DATA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float PCM audio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TAG_RESULT_SIZE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of processed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TAG_RESULT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Processed audio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TAG_FEATURES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vectors (analysis mode)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434840" y="822960"/>
            <a:ext cx="4434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822960"/>
            <a:ext cx="443484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 / Worker Flow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0" y="1325880"/>
            <a:ext cx="3200400" cy="393192"/>
          </a:xfrm>
          <a:prstGeom prst="rect">
            <a:avLst/>
          </a:prstGeom>
          <a:solidFill>
            <a:srgbClr val="EAF1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63440" y="1344168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Read entire WAV file into AudioBuffer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1783080"/>
            <a:ext cx="3200400" cy="393192"/>
          </a:xfrm>
          <a:prstGeom prst="rect">
            <a:avLst/>
          </a:prstGeom>
          <a:solidFill>
            <a:srgbClr val="EAF1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1801368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Compute chunk sizes with guard regions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2240280"/>
            <a:ext cx="3200400" cy="393192"/>
          </a:xfrm>
          <a:prstGeom prst="rect">
            <a:avLst/>
          </a:prstGeom>
          <a:solidFill>
            <a:srgbClr val="EAF1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2258568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MPI_Send chunk_len + chunk data to each worker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2697480"/>
            <a:ext cx="3200400" cy="393192"/>
          </a:xfrm>
          <a:prstGeom prst="rect">
            <a:avLst/>
          </a:prstGeom>
          <a:solidFill>
            <a:srgbClr val="EAF1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63440" y="2715768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Optionally overlap with MPI_Isend (non-blocking)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3154680"/>
            <a:ext cx="3200400" cy="393192"/>
          </a:xfrm>
          <a:prstGeom prst="rect">
            <a:avLst/>
          </a:prstGeom>
          <a:solidFill>
            <a:srgbClr val="EAF1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172968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MPI_Recv results from each worker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0" y="3611880"/>
            <a:ext cx="3200400" cy="393192"/>
          </a:xfrm>
          <a:prstGeom prst="rect">
            <a:avLst/>
          </a:prstGeom>
          <a:solidFill>
            <a:srgbClr val="EAF1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3630168"/>
            <a:ext cx="31089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Concatenate → normalize → write_wav()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0" y="41330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Worker: Recv chunk → process_parallel() → Send result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74320" y="3675888"/>
            <a:ext cx="397764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Option: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11480" y="3977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MPI_Isend / MPI_Irecv allow the master to prepare the next batch from disk while transfers are in flight — eliminating I/O idle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OpenMP Layer — Shared Memory Parallelism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11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95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#pragma omp parallel for  —  STFT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7548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612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schedule(dynamic, 16)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57800" y="113385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processes a different frame f. Thread writes its own spectrogram[f] row — no race condition.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85953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56232"/>
            <a:ext cx="8595360" cy="457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11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#pragma omp parallel for collapse(2)  —  Filtering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221992"/>
            <a:ext cx="47548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128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collapse(2) schedule(static)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218541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f and k loops. Pure element-wise multiply — fully data-independent, maximum parallelism.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07792"/>
            <a:ext cx="85953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07792"/>
            <a:ext cx="859536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626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#pragma omp parallel for  —  MFCC Extraction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273552"/>
            <a:ext cx="47548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64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schedule(static)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57800" y="323697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computes power spectrum → Mel filterbank → DCT for frame f. Read-only mel_fb[][] is shared safely.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59352"/>
            <a:ext cx="85953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59352"/>
            <a:ext cx="85953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142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ISTFT + OLA  —  Parallel IFFT, Sequential OLA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325112"/>
            <a:ext cx="47548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15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 +  sequential accumulation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57800" y="428853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IFFT is parallel; OLA accumulation is sequential (cache-friendly). WOLA normalization pass is parallel again.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983480"/>
            <a:ext cx="8595360" cy="73152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2444"/>
          </a:solidFill>
          <a:ln w="12700">
            <a:solidFill>
              <a:srgbClr val="0E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Strategy &amp; Synchronization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12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MASTER (Rank 0)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371600"/>
            <a:ext cx="2103120" cy="502920"/>
          </a:xfrm>
          <a:prstGeom prst="line">
            <a:avLst/>
          </a:prstGeom>
          <a:noFill/>
          <a:ln w="19050">
            <a:solidFill>
              <a:srgbClr val="00C4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114800" y="1371600"/>
            <a:ext cx="4206240" cy="502920"/>
          </a:xfrm>
          <a:prstGeom prst="line">
            <a:avLst/>
          </a:prstGeom>
          <a:noFill/>
          <a:ln w="19050">
            <a:solidFill>
              <a:srgbClr val="00C4C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223760" y="1371600"/>
            <a:ext cx="2103120" cy="502920"/>
          </a:xfrm>
          <a:prstGeom prst="line">
            <a:avLst/>
          </a:prstGeom>
          <a:noFill/>
          <a:ln w="19050">
            <a:solidFill>
              <a:srgbClr val="00C4C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2011680" cy="502920"/>
          </a:xfrm>
          <a:prstGeom prst="rect">
            <a:avLst/>
          </a:prstGeom>
          <a:solidFill>
            <a:srgbClr val="0E2444"/>
          </a:solidFill>
          <a:ln w="1524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</a:rPr>
              <a:t>Worker Rank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920240"/>
            <a:ext cx="2011680" cy="502920"/>
          </a:xfrm>
          <a:prstGeom prst="rect">
            <a:avLst/>
          </a:prstGeom>
          <a:solidFill>
            <a:srgbClr val="0E2444"/>
          </a:solidFill>
          <a:ln w="1524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</a:rPr>
              <a:t>Worker Rank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920240"/>
            <a:ext cx="2011680" cy="502920"/>
          </a:xfrm>
          <a:prstGeom prst="rect">
            <a:avLst/>
          </a:prstGeom>
          <a:solidFill>
            <a:srgbClr val="0E2444"/>
          </a:solidFill>
          <a:ln w="1524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CC"/>
                </a:solidFill>
              </a:rPr>
              <a:t>Worker Rank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CCED"/>
                </a:solidFill>
              </a:rPr>
              <a:t>Processing (no inter-worker communication)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80160" y="2788920"/>
            <a:ext cx="64008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2788920"/>
            <a:ext cx="64008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788920"/>
            <a:ext cx="64008" cy="41148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3200400"/>
            <a:ext cx="2743200" cy="50292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3200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MASTER — Gather + Reconstruct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4CC"/>
                </a:solidFill>
              </a:rPr>
              <a:t>MPI_Scatter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" y="2816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73B5"/>
                </a:solidFill>
              </a:rPr>
              <a:t>MPI_Gather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0E2444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840480"/>
            <a:ext cx="859536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886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Synchronization Points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Scatter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MPI_Barrier (implicit in Waitall)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workers have received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4206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Accumulation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/ #pragma omp atomic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Within each worker during ISTFT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206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MPI_Gather / MPI_Recv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Master waits for all results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Analysis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13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3464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83464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96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325880"/>
            <a:ext cx="2606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167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S(p) = T_seq / T_par(p)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8745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S(p) = p · Expected: 0.85p–0.95p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822960"/>
            <a:ext cx="283464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822960"/>
            <a:ext cx="283464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896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28416" y="1325880"/>
            <a:ext cx="2606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167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E(p) = S(p) / 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28416" y="18745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perfect · Expected range: 0.80–0.95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822960"/>
            <a:ext cx="283464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822960"/>
            <a:ext cx="28346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8961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Amdahl Bound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72784" y="1325880"/>
            <a:ext cx="26060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31673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S_max = 1 / [(1-f) + f/p]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18745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f=0.95, p=16 → S_max ≈ 11.9×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090672"/>
            <a:ext cx="85953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090672"/>
            <a:ext cx="859536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45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737360" y="35478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Intel Xeon @ 3.0 GHz · 32 GB RAM per node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" y="38404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737360" y="38404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GbE Ethernet / InfiniBand FDR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" y="41330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737360" y="413308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OpenMPI 4.x · OpenMP 5.0 · GCC 12 (-O3 -march=native -fopenmp)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737360" y="442569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WAV: 1 min, 10 min, 30 min, 60 min · mono · 44.1 kHz · 32-bit float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1480" y="47183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Params: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737360" y="4718304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N=2048, hop=1024 · Band-pass FIR order 512, 300–3400 Hz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 — Timing &amp; Scaling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14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0" cy="54864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Predicted Timing Profile (1-hour audio, 16 MPI × 8 threads)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4892040" cy="301752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822960"/>
                <a:gridCol w="9601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B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(read)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~13.4×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~13.1×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~12.9×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~12.6×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ISTFT + OLA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(write)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MPI Comm 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532120" y="822960"/>
            <a:ext cx="33375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822960"/>
            <a:ext cx="33375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89611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Overhead vs. Processes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280160"/>
          <a:ext cx="3200400" cy="173736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669280" y="30906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OpenMP Scaling (8-core node)</a:t>
            </a:r>
            <a:endParaRPr lang="en-US" sz="12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429000"/>
          <a:ext cx="3200400" cy="109728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822960"/>
                <a:gridCol w="8229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C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11480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Communication overhead is acceptable (&lt; 22%) up to P=16. At P=32, comm dominates (47.7%) — practical sweet spot: 16–24 processes.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Bottlenecks &amp; Proposed Optimizations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490"/>
                </a:solidFill>
              </a:rPr>
              <a:t>15 / 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8580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850392"/>
            <a:ext cx="7680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I/O  +  Double-Buffering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11704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reading whole file before scatter, overlap read of batch N+1 with processing of batch N. Eliminates master I/O bottleneck.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673352"/>
            <a:ext cx="85953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73352"/>
            <a:ext cx="685800" cy="777240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7335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1719072"/>
            <a:ext cx="7680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3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FFTW3 Integration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51560" y="20391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custom Cooley-Tukey FFT with FFTW3. Uses SIMD (AVX-512, SSE4.2) automatically. Expected 3–5× speedup on STFT stage.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85953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42032"/>
            <a:ext cx="685800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4203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587752"/>
            <a:ext cx="7680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NUMA-Aware Memory Allocation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290779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OpenMP threads to NUMA domains and allocate memory locally using numa_alloc_local(). Reduces cross-socket memory latency.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85953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4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10712"/>
            <a:ext cx="685800" cy="77724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1071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456432"/>
            <a:ext cx="7680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4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OLA via Reduction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51560" y="37764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Thread-private accumulation buffers merged with #pragma omp critical. Enables fully parallel ISTFT overlap-add for &gt;50% overlap cases.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4279392"/>
            <a:ext cx="85953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AB7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279392"/>
            <a:ext cx="685800" cy="777240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279392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4325112"/>
            <a:ext cx="7680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AB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Load Balancing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51560" y="46451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P large chunks with a work-stealing queue of ~100 small segments. Workers pull tasks as they finish, eliminating last-chunk imbalance.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572000" cy="4572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457200" cy="47548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Parallelizable fraction &gt; 90% → theoretical max speedup ~11.9× at P=16 (Amdahl's Law)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57200" cy="475488"/>
          </a:xfrm>
          <a:prstGeom prst="rect">
            <a:avLst/>
          </a:prstGeom>
          <a:solidFill>
            <a:srgbClr val="1A73B5"/>
          </a:solidFill>
          <a:ln w="12700">
            <a:solidFill>
              <a:srgbClr val="1A73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773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hybrid (MPI coarse + OpenMP fine) avoids contention and maps cleanly to modern cluster hardware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45720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43230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Overlap-save guard regions ensure mathematical equivalence to sequential baseline — correctness guaranteed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45720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5409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09067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cost &lt; 22% at P=16 over 10 GbE — practical sweet spot is 16–24 MPI processes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457200" cy="475488"/>
          </a:xfrm>
          <a:prstGeom prst="rect">
            <a:avLst/>
          </a:prstGeom>
          <a:solidFill>
            <a:srgbClr val="1AAB7C"/>
          </a:solidFill>
          <a:ln w="12700">
            <a:solidFill>
              <a:srgbClr val="1AAB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7124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FFTW3 + streaming I/O + NUMA allocation = highest-impact optimizations with minimal implementation cost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" y="4370832"/>
            <a:ext cx="457200" cy="47548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708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40740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directly applicable to broadcast monitoring, ASR data prep, and large-scale archival analysis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0E2444"/>
          </a:solidFill>
          <a:ln w="12700">
            <a:solidFill>
              <a:srgbClr val="0E2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AID323 – Parallel and Distributed Computing  |  Audio Signal Processing  |  MPI + OpenMP Hybrid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AID323 – Audio Signal Processing with MPI + OpenMP</dc:title>
  <dc:subject>PptxGenJS Presentation</dc:subject>
  <dc:creator>AID323 Project Team</dc:creator>
  <cp:lastModifiedBy>AID323 Project Team</cp:lastModifiedBy>
  <cp:revision>1</cp:revision>
  <dcterms:created xsi:type="dcterms:W3CDTF">2026-05-13T10:23:48Z</dcterms:created>
  <dcterms:modified xsi:type="dcterms:W3CDTF">2026-05-13T10:23:48Z</dcterms:modified>
</cp:coreProperties>
</file>